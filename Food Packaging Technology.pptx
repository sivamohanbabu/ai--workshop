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10" Type="http://schemas.openxmlformats.org/officeDocument/2006/relationships/image" Target="../media/image28.png"/><Relationship Id="rId9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9" Type="http://schemas.openxmlformats.org/officeDocument/2006/relationships/image" Target="../media/image40.png"/><Relationship Id="rId5" Type="http://schemas.openxmlformats.org/officeDocument/2006/relationships/image" Target="../media/image22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10564" y="1457325"/>
            <a:ext cx="6970871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FOOD PACKAGING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76537" y="3705225"/>
            <a:ext cx="66389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Subject Code: FDPT 313 | B.Tech Food Technology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459485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76537" y="4897635"/>
            <a:ext cx="66389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Comprehensive Study on Materials, Permeability, and Advanced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7944"/>
            <a:ext cx="3492549" cy="3602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27944"/>
            <a:ext cx="3492549" cy="3602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27944"/>
            <a:ext cx="3492549" cy="360223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3242369"/>
            <a:ext cx="2867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Protection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909119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Shields food from physical damage, chemical contamination, and biological spoilage during transit.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30799" y="3242369"/>
            <a:ext cx="2867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Containment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30799" y="3909119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Encloses products to facilitate efficient transport, storage, and handling in various sizes.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09099" y="3242369"/>
            <a:ext cx="2867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09099" y="3909119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Provides legal information, nutrition facts, branding, and usage instructions to consumers.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5565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5565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5565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Core Functions of Packaging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259749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Versatility: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Lightweight and highly printable for branding.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37467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Eco-Friendly: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Biodegradable and easily recyclable.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385851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Types: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Includes Kraft paper, greaseproof paper, and corrugated fiberboard.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4635698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Poor moisture and gas barrier properties unless laminated or coated with plastics/wax.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Paper and Paperboard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9749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746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585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3569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262038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334000" y="2178397"/>
            <a:ext cx="6600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Premium Protection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334000" y="2845147"/>
            <a:ext cx="6286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Glass is highly inert, making it the safest contact material for acidic and high-moisture foods.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2187" y="2262038"/>
            <a:ext cx="8096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0" y="3641377"/>
            <a:ext cx="5905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Impermeability: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Excellent barrier against gases and water vapor.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0" y="4125217"/>
            <a:ext cx="5905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Transparency: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Allows consumers to inspect product quality visually.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0" y="4902398"/>
            <a:ext cx="5905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Challenges: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Heavy weight increases shipping costs; fragility leads to breakage risks.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Glass: The Inert Barrier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36413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41252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490239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238125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Tinplate &amp; Aluminum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04800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Metallic containers offer total protection against light, air, and microorganisms, making them ideal for long-shelf-life canned goods.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4213770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Tinplate: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Steel coated with tin for corrosion resistance.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4990951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Aluminum: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Lightweight, flexible, and ideal for beverage cans and foils.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5768131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Mechanical Strength: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resistance to heat processing (Canning/Retort).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7620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Metal Packaging Systems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762000"/>
            <a:ext cx="76200" cy="12382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137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9095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6813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7520"/>
            <a:ext cx="2524125" cy="1766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6375" y="2067520"/>
            <a:ext cx="2524125" cy="1766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24312"/>
            <a:ext cx="2524125" cy="1766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375" y="4024312"/>
            <a:ext cx="2524125" cy="1766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24062"/>
            <a:ext cx="1352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572250" y="2460575"/>
            <a:ext cx="2250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PET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72250" y="2793950"/>
            <a:ext cx="2143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Polyethylene Terephthalate: High clarity, used for beverage bottles.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286875" y="2460575"/>
            <a:ext cx="2250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HDPE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286875" y="2793950"/>
            <a:ext cx="2143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High-Density Polyethylene: Rigid and opaque, used for milk jugs.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572250" y="4417367"/>
            <a:ext cx="2250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LDPE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72250" y="4750742"/>
            <a:ext cx="2143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Low-Density Polyethylene: Flexible, used for bread bags and wraps.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286875" y="4417367"/>
            <a:ext cx="2250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PP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286875" y="4750742"/>
            <a:ext cx="2143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Polypropylene: High heat resistance, suitable for microwavable tubs.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Plastic Materials &amp; Properties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3191"/>
            <a:ext cx="5238750" cy="3931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391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2172741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Permeability determines how easily gases and vapors pass through a packaging material. Lower permeability equals better shelf-life.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5243512"/>
            <a:ext cx="5238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Measured as OTR (Oxygen Transmission Rate) and WVTR (Water Vapor Transmission Rate).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02391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Technical Concept: Permeability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916810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71625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571625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571625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916810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52500" y="2686050"/>
            <a:ext cx="286707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Oxygen Scavengers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52500" y="3810000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Removes residual oxygen in the headspace to prevent oxidation and rancidity in fats.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730799" y="2686050"/>
            <a:ext cx="286707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Moisture Absorbers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730799" y="3810000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Controls relative humidity to prevent sogginess in dry snacks or mold growth in fresh produce.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509099" y="2686050"/>
            <a:ext cx="2867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Antimicrobials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509099" y="3352800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Incorporates agents into the film to inhibit the growth of spoilage bacteria on surfaces.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30799" y="20002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Active Packaging Systems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982563"/>
            <a:ext cx="7620000" cy="4892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6550" y="2988468"/>
            <a:ext cx="3076575" cy="2296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988468"/>
            <a:ext cx="3076575" cy="229641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715577" y="1573113"/>
            <a:ext cx="67608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Modified Atmosphere Packaging (MAP)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876550" y="2116038"/>
            <a:ext cx="6438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Replacing air inside a package with a protective gas mixture to extend fresh product life.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3257550" y="3572023"/>
            <a:ext cx="243030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CO2 (Carbon Dioxide)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257550" y="3955553"/>
            <a:ext cx="2314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Bacteriostatic effect; inhibits growth of aerobic bacteria and molds.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619875" y="3572023"/>
            <a:ext cx="243030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N2 (Nitrogen)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619875" y="3955553"/>
            <a:ext cx="2314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Inert filler gas used to prevent package collapse and exclude oxygen.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463004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295275" y="2749004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396820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0" y="463004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538921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B.Tech Food Technology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589210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Exam Preparation Study Resource - 2026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/>
          <p:nvPr/>
        </p:nvSpPr>
        <p:spPr>
          <a:xfrm>
            <a:off x="571500" y="15716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2343150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1500" y="324579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017317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491996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3236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3236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4007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4007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9104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49104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5681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1500" y="5681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4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666875" y="17354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https://cdn.mos.cms.futurecdn.net/fb3D4DMdV2M8m9DhFdhZh5.jpg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19563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www.creativebloq.com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51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666875" y="248602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https://static.vecteezy.com/system/resources/previews/046/122/571/non_2x/fresh-and-colorful-assortment-of-fruits-and-vegetables-in-a-cardboard-box-organic-produce-collection-concept-of-healthy-eating-farm-produce-delivery-natural-food-isolated-on-white-background-photo.jpeg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66875" y="288012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886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666875" y="340965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https://files.ekmcdn.com/s4ushop/images/glass-storage-jars-breakfast-set-546-p.jpg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666875" y="363051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www.sourcing4u.co.uk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56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666875" y="4160192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https://image.made-in-china.com/202f0j00RsPhfdjAkZqz/15mic-15um-15micron-Aluminium-Aluminum-Foil-8079-O-Um-Micron-Heat-Sealing-Foil-for-Food-Lidding-Foil-Yogurt-Lidding-Milk-Powder-Cans-Lidding.webp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666875" y="4554289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gyjaluminum.en.made-in-china.com</a:t>
            </a:r>
            <a:endParaRPr/>
          </a:p>
        </p:txBody>
      </p:sp>
      <p:pic>
        <p:nvPicPr>
          <p:cNvPr descr="image.png" id="269" name="Google Shape;2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628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666875" y="50838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https://www.silganplastics.com/wp-content/uploads/2023/08/Stock-Food.png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666875" y="53046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www.silganplastics.com</a:t>
            </a:r>
            <a:endParaRPr/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343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1666875" y="58553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http://www.polyestertime.com/wp-content/uploads/2016/06/O2-Permeation-27-06-2016.jpg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666875" y="60762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www.polyestertime.com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571500" y="2776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71500" y="35480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8" name="Google Shape;2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9412"/>
            <a:ext cx="1609725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1666875" y="29403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https://www.cilicant.com/wp-content/uploads/2019/09/Process-Food-inner-hero.png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1666875" y="31612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www.cilicant.com</a:t>
            </a:r>
            <a:endParaRPr/>
          </a:p>
        </p:txBody>
      </p:sp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90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1666875" y="37119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https://img.magnific.com/free-vector/thank-you-your-attention-sign-illustration_23-2150308623.jpg?semt=ais_hybrid&amp;w=740&amp;q=80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666875" y="39327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www.magnific.com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62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1666875" y="44834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https://www.p5pkg.com/wp-content/uploads/info-1.webp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666875" y="47043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www.p5pkg.com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